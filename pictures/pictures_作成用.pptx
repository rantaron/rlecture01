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64"/>
    <p:restoredTop sz="94690"/>
  </p:normalViewPr>
  <p:slideViewPr>
    <p:cSldViewPr snapToGrid="0">
      <p:cViewPr varScale="1">
        <p:scale>
          <a:sx n="107" d="100"/>
          <a:sy n="107" d="100"/>
        </p:scale>
        <p:origin x="44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D442A8-DBB8-3B72-8328-C0C2B0C32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4D1503F-E006-DA55-FAA7-8F477331D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C7A89A-019C-29D2-980E-FEFB07C6E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F631C8-5920-D871-E7A1-57F3D657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5A8D97-B62E-74B6-0F58-F5265EF9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3687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6A565E-1BDF-6109-21B0-593C23808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5498764-188B-48D5-6CAD-D47DEDB7B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49BA59-B5B9-958D-F7E9-5BAF14E9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9AF747-095F-7361-695D-F90C40A1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E4617B-CEBE-A1F7-0524-D7A51068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883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7664E4-385D-301F-8C16-72A730EDA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AE0E71-8934-3D66-20EB-79342DE6D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85F816-DD13-1FFE-5A45-5F53D4726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D688FF-BDB7-6F8B-8E1C-26D34A60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62844D-2797-FBF1-9919-60DC200D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377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D1FD0E-4418-6DDE-E406-95EF2A984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E3B64E-0FB5-CAE2-EF11-9D6E114C8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692325-F01F-A8CC-4E7E-8B736F1BF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251D3F-FB25-8E0D-22BB-2F15E5E5F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D7B4B6-E209-5995-F8BB-9D6CCD17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6FBB7B9-6B7D-8F4F-E50D-ACA529BE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2366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D9FF62-2600-2C0B-4A4B-2DC06481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369C55-676F-F454-073D-18FD57711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29CA4B2-2780-DD53-9E78-2910F0A42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18217B1-6C39-ABCB-CA35-8391E3E1A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F60C146-4F8F-0B3C-A5F5-F55D438FD7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AB0244D-9C9D-BE36-AAFA-870A2F449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ED0BF61-50B0-18BC-22AC-D2A1C5F57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09D4724-C78C-799E-07B1-2CD8B976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24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39C84A-1B6F-0A0B-6A12-E88AE993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C98463-BD4C-AA74-8339-91C01D87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A90943A-D524-2945-8929-11895846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2E7D0A3-042C-40F2-03D4-EAA11EC0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552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69F0B0A-71CD-8D9A-AFB3-97026815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89223CB-8CD4-DF96-0A58-6BA5B550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37A8B3A-A5EB-1B48-613A-7F7911B2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986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0D51D6-E643-515E-49F0-8D0F2D6CD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22183C-412C-6226-FFB2-99861F00D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CC8A61-67F7-67FF-44CF-738ACB045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307842-A515-4E46-74A8-1A6DAE54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D34C86-38B8-F80B-A068-FDE5E38B2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7EF4C8-79C5-45E9-6797-17A9700C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62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419CE9-FDC6-D3E2-866C-E098373F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0118B3E-AF0A-FD7B-5367-227CC2967F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138C42F-C49D-5414-8951-2A91831CE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620B545-0619-0108-8285-A8A2F1058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ED5A38-9774-E396-25E1-C983EC7A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3CF781-D20D-3535-7B67-B3A1A4F3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142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F88B4B-0AB4-49B8-8D8E-CE1E085A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1F7D4D-31BB-B6ED-8F98-0364038B4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7CD80C-A263-C0D9-C94D-A578F93A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8A00EA-35A7-0EA1-19E1-DC3141AE3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627FC1F-E79D-B957-49C4-0553EC4A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8115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ACD439A-9D71-17E1-E330-8642D898B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50C4800-EAE0-D8AB-B1C9-8E07C284F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41AFCF-BDC8-4582-9530-8D7003C6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4C153F-DFDC-B677-AAB7-573A0389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AB5E34-35E2-F8A0-879B-433B894A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8513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B8B0B9-749E-D2BE-C52C-82D59704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89A8E6-A313-D552-604C-254AD9572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633316-0B27-CA0E-A438-847F3DC65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6BDEA7-4124-5C40-9D33-3635CB86307B}" type="datetimeFigureOut">
              <a:rPr kumimoji="1" lang="ja-JP" altLang="en-US" smtClean="0"/>
              <a:t>2026/9/22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2BC2FA-DA04-2319-1EDD-9024CEDDA2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C7B6D6-44F4-01ED-1E37-167591507B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44348-BE27-9546-A956-172AD2AE48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224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EF797AE-BB46-F4D6-4C04-E64CDE5C2B42}"/>
              </a:ext>
            </a:extLst>
          </p:cNvPr>
          <p:cNvSpPr/>
          <p:nvPr/>
        </p:nvSpPr>
        <p:spPr>
          <a:xfrm>
            <a:off x="6096000" y="1781298"/>
            <a:ext cx="2790701" cy="279070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925AB02-244E-E556-EC9C-50E6A969F455}"/>
              </a:ext>
            </a:extLst>
          </p:cNvPr>
          <p:cNvSpPr/>
          <p:nvPr/>
        </p:nvSpPr>
        <p:spPr>
          <a:xfrm>
            <a:off x="2631620" y="1096275"/>
            <a:ext cx="3464380" cy="346438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772C8DDB-0E9C-B6F1-59F0-871EE37F468B}"/>
              </a:ext>
            </a:extLst>
          </p:cNvPr>
          <p:cNvCxnSpPr>
            <a:cxnSpLocks/>
          </p:cNvCxnSpPr>
          <p:nvPr/>
        </p:nvCxnSpPr>
        <p:spPr>
          <a:xfrm>
            <a:off x="570015" y="4572000"/>
            <a:ext cx="10877798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1A321E2-2E28-DFF1-12A7-CD13F8C1F03E}"/>
              </a:ext>
            </a:extLst>
          </p:cNvPr>
          <p:cNvSpPr txBox="1"/>
          <p:nvPr/>
        </p:nvSpPr>
        <p:spPr>
          <a:xfrm>
            <a:off x="11240064" y="472637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A700502-CE15-52E6-7A6C-7B45814518E6}"/>
              </a:ext>
            </a:extLst>
          </p:cNvPr>
          <p:cNvSpPr txBox="1"/>
          <p:nvPr/>
        </p:nvSpPr>
        <p:spPr>
          <a:xfrm>
            <a:off x="10916898" y="40951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大</a:t>
            </a:r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endParaRPr kumimoji="1" lang="ja-JP" altLang="en-US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E3CD69A-BCA0-50BA-3AE9-A4BE93B0A9F1}"/>
              </a:ext>
            </a:extLst>
          </p:cNvPr>
          <p:cNvSpPr txBox="1"/>
          <p:nvPr/>
        </p:nvSpPr>
        <p:spPr>
          <a:xfrm>
            <a:off x="570015" y="40951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小</a:t>
            </a:r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endParaRPr kumimoji="1" lang="ja-JP" altLang="en-US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E65215B-76DA-1A2C-FAB4-B3594A2E2157}"/>
              </a:ext>
            </a:extLst>
          </p:cNvPr>
          <p:cNvSpPr/>
          <p:nvPr/>
        </p:nvSpPr>
        <p:spPr>
          <a:xfrm>
            <a:off x="6072249" y="4387334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A9DF931-0F7D-70CB-07FE-499AFBF1FEAB}"/>
                  </a:ext>
                </a:extLst>
              </p:cNvPr>
              <p:cNvSpPr txBox="1"/>
              <p:nvPr/>
            </p:nvSpPr>
            <p:spPr>
              <a:xfrm>
                <a:off x="5494604" y="4794087"/>
                <a:ext cx="1238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平均値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A9DF931-0F7D-70CB-07FE-499AFBF1F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604" y="4794087"/>
                <a:ext cx="1238416" cy="369332"/>
              </a:xfrm>
              <a:prstGeom prst="rect">
                <a:avLst/>
              </a:prstGeom>
              <a:blipFill>
                <a:blip r:embed="rId2"/>
                <a:stretch>
                  <a:fillRect l="-3061" t="-10000" r="-4082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AFF40CFE-4250-3F98-7E1F-EA5251FF7DBA}"/>
                  </a:ext>
                </a:extLst>
              </p:cNvPr>
              <p:cNvSpPr txBox="1"/>
              <p:nvPr/>
            </p:nvSpPr>
            <p:spPr>
              <a:xfrm>
                <a:off x="1898567" y="4726379"/>
                <a:ext cx="14740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観測値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AFF40CFE-4250-3F98-7E1F-EA5251FF7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567" y="4726379"/>
                <a:ext cx="1474026" cy="369332"/>
              </a:xfrm>
              <a:prstGeom prst="rect">
                <a:avLst/>
              </a:prstGeom>
              <a:blipFill>
                <a:blip r:embed="rId3"/>
                <a:stretch>
                  <a:fillRect l="-2564" t="-10000" r="-1709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FCBB2D7-A834-96E2-F19A-B5071095960D}"/>
              </a:ext>
            </a:extLst>
          </p:cNvPr>
          <p:cNvSpPr/>
          <p:nvPr/>
        </p:nvSpPr>
        <p:spPr>
          <a:xfrm>
            <a:off x="2590058" y="4387334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右中かっこ 14">
            <a:extLst>
              <a:ext uri="{FF2B5EF4-FFF2-40B4-BE49-F238E27FC236}">
                <a16:creationId xmlns:a16="http://schemas.microsoft.com/office/drawing/2014/main" id="{B401C02C-AE41-AABC-E2F6-C345C0DE0478}"/>
              </a:ext>
            </a:extLst>
          </p:cNvPr>
          <p:cNvSpPr/>
          <p:nvPr/>
        </p:nvSpPr>
        <p:spPr>
          <a:xfrm rot="5400000">
            <a:off x="4015292" y="3792819"/>
            <a:ext cx="714848" cy="348219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4412F589-C379-3906-0AC6-A08B6DE659D3}"/>
                  </a:ext>
                </a:extLst>
              </p:cNvPr>
              <p:cNvSpPr txBox="1"/>
              <p:nvPr/>
            </p:nvSpPr>
            <p:spPr>
              <a:xfrm>
                <a:off x="3749139" y="5947216"/>
                <a:ext cx="14740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差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𝑥</m:t>
                        </m:r>
                      </m:e>
                    </m:acc>
                    <m:r>
                      <a:rPr lang="en-US" altLang="ja-JP" b="0" i="1" smtClean="0">
                        <a:latin typeface="Cambria Math" panose="02040503050406030204" pitchFamily="18" charset="0"/>
                        <a:ea typeface="MS Gothic" panose="020B0609070205080204" pitchFamily="49" charset="-128"/>
                      </a:rPr>
                      <m:t>−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4412F589-C379-3906-0AC6-A08B6DE65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139" y="5947216"/>
                <a:ext cx="1474026" cy="369332"/>
              </a:xfrm>
              <a:prstGeom prst="rect">
                <a:avLst/>
              </a:prstGeom>
              <a:blipFill>
                <a:blip r:embed="rId4"/>
                <a:stretch>
                  <a:fillRect t="-10000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8278CA3-A647-B7BB-26E0-1174C6709586}"/>
                  </a:ext>
                </a:extLst>
              </p:cNvPr>
              <p:cNvSpPr txBox="1"/>
              <p:nvPr/>
            </p:nvSpPr>
            <p:spPr>
              <a:xfrm>
                <a:off x="3489551" y="2493469"/>
                <a:ext cx="1993201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差の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2</a:t>
                </a:r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乗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i="1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)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8278CA3-A647-B7BB-26E0-1174C6709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551" y="2493469"/>
                <a:ext cx="1993201" cy="669992"/>
              </a:xfrm>
              <a:prstGeom prst="rect">
                <a:avLst/>
              </a:prstGeom>
              <a:blipFill>
                <a:blip r:embed="rId5"/>
                <a:stretch>
                  <a:fillRect t="-3704" b="-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4A157E4E-C994-87FB-F2D2-4664F8D74CF6}"/>
                  </a:ext>
                </a:extLst>
              </p:cNvPr>
              <p:cNvSpPr txBox="1"/>
              <p:nvPr/>
            </p:nvSpPr>
            <p:spPr>
              <a:xfrm>
                <a:off x="8193491" y="4726379"/>
                <a:ext cx="14740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観測値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2(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4A157E4E-C994-87FB-F2D2-4664F8D74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3491" y="4726379"/>
                <a:ext cx="1474026" cy="369332"/>
              </a:xfrm>
              <a:prstGeom prst="rect">
                <a:avLst/>
              </a:prstGeom>
              <a:blipFill>
                <a:blip r:embed="rId6"/>
                <a:stretch>
                  <a:fillRect l="-2564" t="-10000" r="-1709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3033208-EE3D-6404-72F4-D6A36702C0D2}"/>
              </a:ext>
            </a:extLst>
          </p:cNvPr>
          <p:cNvSpPr/>
          <p:nvPr/>
        </p:nvSpPr>
        <p:spPr>
          <a:xfrm>
            <a:off x="8849357" y="4387334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右中かっこ 20">
            <a:extLst>
              <a:ext uri="{FF2B5EF4-FFF2-40B4-BE49-F238E27FC236}">
                <a16:creationId xmlns:a16="http://schemas.microsoft.com/office/drawing/2014/main" id="{142FCD3F-E60C-5DFC-D947-1DBD051EC9D6}"/>
              </a:ext>
            </a:extLst>
          </p:cNvPr>
          <p:cNvSpPr/>
          <p:nvPr/>
        </p:nvSpPr>
        <p:spPr>
          <a:xfrm rot="5400000">
            <a:off x="7219293" y="4142523"/>
            <a:ext cx="714848" cy="2782783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71DD8C1-0555-9B51-D2E3-65D761480ED2}"/>
                  </a:ext>
                </a:extLst>
              </p:cNvPr>
              <p:cNvSpPr txBox="1"/>
              <p:nvPr/>
            </p:nvSpPr>
            <p:spPr>
              <a:xfrm>
                <a:off x="6839704" y="5904410"/>
                <a:ext cx="14740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差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i="1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𝑥</m:t>
                        </m:r>
                      </m:e>
                    </m:acc>
                    <m:r>
                      <a:rPr lang="en-US" altLang="ja-JP" b="0" i="1" smtClean="0">
                        <a:latin typeface="Cambria Math" panose="02040503050406030204" pitchFamily="18" charset="0"/>
                        <a:ea typeface="MS Gothic" panose="020B0609070205080204" pitchFamily="49" charset="-128"/>
                      </a:rPr>
                      <m:t>−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71DD8C1-0555-9B51-D2E3-65D761480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704" y="5904410"/>
                <a:ext cx="1474026" cy="369332"/>
              </a:xfrm>
              <a:prstGeom prst="rect">
                <a:avLst/>
              </a:prstGeom>
              <a:blipFill>
                <a:blip r:embed="rId7"/>
                <a:stretch>
                  <a:fillRect t="-13793" b="-241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DB92BC62-C65E-5158-F1E3-25BA737709B9}"/>
                  </a:ext>
                </a:extLst>
              </p:cNvPr>
              <p:cNvSpPr txBox="1"/>
              <p:nvPr/>
            </p:nvSpPr>
            <p:spPr>
              <a:xfrm>
                <a:off x="6494750" y="2841652"/>
                <a:ext cx="1993201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差の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2</a:t>
                </a:r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乗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𝑥</m:t>
                            </m:r>
                          </m:e>
                        </m:acc>
                        <m:r>
                          <a:rPr lang="en-US" altLang="ja-JP" i="1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)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DB92BC62-C65E-5158-F1E3-25BA73770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750" y="2841652"/>
                <a:ext cx="1993201" cy="669992"/>
              </a:xfrm>
              <a:prstGeom prst="rect">
                <a:avLst/>
              </a:prstGeom>
              <a:blipFill>
                <a:blip r:embed="rId8"/>
                <a:stretch>
                  <a:fillRect t="-3704" b="-74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右矢印 24">
            <a:extLst>
              <a:ext uri="{FF2B5EF4-FFF2-40B4-BE49-F238E27FC236}">
                <a16:creationId xmlns:a16="http://schemas.microsoft.com/office/drawing/2014/main" id="{C33A0022-5989-3C17-DC39-61F3057EE11A}"/>
              </a:ext>
            </a:extLst>
          </p:cNvPr>
          <p:cNvSpPr/>
          <p:nvPr/>
        </p:nvSpPr>
        <p:spPr>
          <a:xfrm>
            <a:off x="9071176" y="2043684"/>
            <a:ext cx="690341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0620ADED-027F-9523-EA03-CD5F9FC17F40}"/>
                  </a:ext>
                </a:extLst>
              </p:cNvPr>
              <p:cNvSpPr txBox="1"/>
              <p:nvPr/>
            </p:nvSpPr>
            <p:spPr>
              <a:xfrm>
                <a:off x="9667517" y="1951004"/>
                <a:ext cx="1993201" cy="7205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差の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2</a:t>
                </a:r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乗の総和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ja-JP" b="0" i="1" smtClean="0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𝑖</m:t>
                            </m:r>
                            <m:r>
                              <m:rPr>
                                <m:brk m:alnAt="23"/>
                              </m:rPr>
                              <a:rPr lang="en-US" altLang="ja-JP" b="0" i="1" smtClean="0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altLang="ja-JP" b="0" i="1" smtClean="0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𝑛</m:t>
                            </m:r>
                          </m:sup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(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MS Gothic" panose="020B0609070205080204" pitchFamily="49" charset="-128"/>
                                  </a:rPr>
                                </m:ctrlPr>
                              </m:acc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MS Gothic" panose="020B0609070205080204" pitchFamily="49" charset="-128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MS Gothic" panose="020B0609070205080204" pitchFamily="49" charset="-128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MS Gothic" panose="020B0609070205080204" pitchFamily="49" charset="-128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  <a:ea typeface="MS Gothic" panose="020B0609070205080204" pitchFamily="49" charset="-128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MS Gothic" panose="020B0609070205080204" pitchFamily="49" charset="-128"/>
                              </a:rPr>
                              <m:t>)</m:t>
                            </m:r>
                          </m:e>
                        </m:nary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0620ADED-027F-9523-EA03-CD5F9FC17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517" y="1951004"/>
                <a:ext cx="1993201" cy="720518"/>
              </a:xfrm>
              <a:prstGeom prst="rect">
                <a:avLst/>
              </a:prstGeom>
              <a:blipFill>
                <a:blip r:embed="rId9"/>
                <a:stretch>
                  <a:fillRect l="-5063" t="-13793" b="-810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38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DFA0C-9CC5-F787-5ACF-A96F2BD98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0EF28D8D-7154-82C3-0B21-B4AC9A6F5206}"/>
              </a:ext>
            </a:extLst>
          </p:cNvPr>
          <p:cNvCxnSpPr>
            <a:cxnSpLocks/>
          </p:cNvCxnSpPr>
          <p:nvPr/>
        </p:nvCxnSpPr>
        <p:spPr>
          <a:xfrm>
            <a:off x="657101" y="1805050"/>
            <a:ext cx="10877798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660568-7EBB-664E-7EE3-D00D7F5972A5}"/>
              </a:ext>
            </a:extLst>
          </p:cNvPr>
          <p:cNvSpPr txBox="1"/>
          <p:nvPr/>
        </p:nvSpPr>
        <p:spPr>
          <a:xfrm>
            <a:off x="11327150" y="195942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515677E-DD08-3494-1CD1-B3D8470D6924}"/>
              </a:ext>
            </a:extLst>
          </p:cNvPr>
          <p:cNvSpPr txBox="1"/>
          <p:nvPr/>
        </p:nvSpPr>
        <p:spPr>
          <a:xfrm>
            <a:off x="11003984" y="132824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大</a:t>
            </a:r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endParaRPr kumimoji="1" lang="ja-JP" altLang="en-US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DD776AE-320C-945F-5FF6-9A9AE5003A36}"/>
              </a:ext>
            </a:extLst>
          </p:cNvPr>
          <p:cNvSpPr txBox="1"/>
          <p:nvPr/>
        </p:nvSpPr>
        <p:spPr>
          <a:xfrm>
            <a:off x="657101" y="132824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小</a:t>
            </a:r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endParaRPr kumimoji="1" lang="ja-JP" altLang="en-US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AA0E58E-834D-59E6-1756-ADC923754A26}"/>
              </a:ext>
            </a:extLst>
          </p:cNvPr>
          <p:cNvSpPr/>
          <p:nvPr/>
        </p:nvSpPr>
        <p:spPr>
          <a:xfrm>
            <a:off x="6159335" y="1620384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15E62F6-D509-AE4C-F46F-4C51FFC1A624}"/>
                  </a:ext>
                </a:extLst>
              </p:cNvPr>
              <p:cNvSpPr txBox="1"/>
              <p:nvPr/>
            </p:nvSpPr>
            <p:spPr>
              <a:xfrm>
                <a:off x="5581690" y="2027137"/>
                <a:ext cx="1238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平均値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15E62F6-D509-AE4C-F46F-4C51FFC1A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690" y="2027137"/>
                <a:ext cx="1238416" cy="369332"/>
              </a:xfrm>
              <a:prstGeom prst="rect">
                <a:avLst/>
              </a:prstGeom>
              <a:blipFill>
                <a:blip r:embed="rId2"/>
                <a:stretch>
                  <a:fillRect l="-4040" t="-10000" r="-3030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FBF0CE0-8C51-02D8-7474-0733204FEB4C}"/>
              </a:ext>
            </a:extLst>
          </p:cNvPr>
          <p:cNvSpPr/>
          <p:nvPr/>
        </p:nvSpPr>
        <p:spPr>
          <a:xfrm>
            <a:off x="5153272" y="1620384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9E86623-74EE-AF10-1435-D4E374C75753}"/>
              </a:ext>
            </a:extLst>
          </p:cNvPr>
          <p:cNvSpPr/>
          <p:nvPr/>
        </p:nvSpPr>
        <p:spPr>
          <a:xfrm>
            <a:off x="7164656" y="1620384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207FEEF2-4B51-98C1-AB57-F11A8244A698}"/>
              </a:ext>
            </a:extLst>
          </p:cNvPr>
          <p:cNvCxnSpPr>
            <a:cxnSpLocks/>
          </p:cNvCxnSpPr>
          <p:nvPr/>
        </p:nvCxnSpPr>
        <p:spPr>
          <a:xfrm>
            <a:off x="657101" y="5237616"/>
            <a:ext cx="10877798" cy="0"/>
          </a:xfrm>
          <a:prstGeom prst="straightConnector1">
            <a:avLst/>
          </a:prstGeom>
          <a:ln w="539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CC345D-0A8B-D31C-A4A8-CB3FE03223E4}"/>
              </a:ext>
            </a:extLst>
          </p:cNvPr>
          <p:cNvSpPr txBox="1"/>
          <p:nvPr/>
        </p:nvSpPr>
        <p:spPr>
          <a:xfrm>
            <a:off x="11327150" y="539199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値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6EA0296-672F-832E-AE30-20D661E5F6D7}"/>
              </a:ext>
            </a:extLst>
          </p:cNvPr>
          <p:cNvSpPr txBox="1"/>
          <p:nvPr/>
        </p:nvSpPr>
        <p:spPr>
          <a:xfrm>
            <a:off x="11003984" y="47608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kumimoji="1"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大</a:t>
            </a:r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endParaRPr kumimoji="1" lang="ja-JP" altLang="en-US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E90D8D-E0DF-E153-E384-86C4CBC5A22D}"/>
              </a:ext>
            </a:extLst>
          </p:cNvPr>
          <p:cNvSpPr txBox="1"/>
          <p:nvPr/>
        </p:nvSpPr>
        <p:spPr>
          <a:xfrm>
            <a:off x="657101" y="47608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(</a:t>
            </a:r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小</a:t>
            </a:r>
            <a:r>
              <a:rPr kumimoji="1" lang="en-US" altLang="ja-JP" dirty="0">
                <a:latin typeface="MS Gothic" panose="020B0609070205080204" pitchFamily="49" charset="-128"/>
                <a:ea typeface="MS Gothic" panose="020B0609070205080204" pitchFamily="49" charset="-128"/>
              </a:rPr>
              <a:t>)</a:t>
            </a:r>
            <a:endParaRPr kumimoji="1" lang="ja-JP" altLang="en-US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1E41ACC-3B24-F2C8-C6AB-8526C7283EDE}"/>
              </a:ext>
            </a:extLst>
          </p:cNvPr>
          <p:cNvSpPr/>
          <p:nvPr/>
        </p:nvSpPr>
        <p:spPr>
          <a:xfrm>
            <a:off x="6159335" y="5052950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B3F97F7-FBDA-3630-E846-08E0A63FE49C}"/>
              </a:ext>
            </a:extLst>
          </p:cNvPr>
          <p:cNvSpPr/>
          <p:nvPr/>
        </p:nvSpPr>
        <p:spPr>
          <a:xfrm>
            <a:off x="2677144" y="5052950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24DA9E2-FD85-E072-8857-4DECF95CFD71}"/>
              </a:ext>
            </a:extLst>
          </p:cNvPr>
          <p:cNvSpPr/>
          <p:nvPr/>
        </p:nvSpPr>
        <p:spPr>
          <a:xfrm>
            <a:off x="8936443" y="5052950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F016CEC-AA95-7F18-63ED-B01917527E92}"/>
              </a:ext>
            </a:extLst>
          </p:cNvPr>
          <p:cNvSpPr txBox="1"/>
          <p:nvPr/>
        </p:nvSpPr>
        <p:spPr>
          <a:xfrm>
            <a:off x="285723" y="16952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＜分散が小さい例＞</a:t>
            </a:r>
            <a:endParaRPr kumimoji="1" lang="ja-JP" altLang="en-US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1D3847F-3650-AA7F-6F6B-6FFA9BC103BE}"/>
              </a:ext>
            </a:extLst>
          </p:cNvPr>
          <p:cNvSpPr txBox="1"/>
          <p:nvPr/>
        </p:nvSpPr>
        <p:spPr>
          <a:xfrm>
            <a:off x="285723" y="3125281"/>
            <a:ext cx="226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>
                <a:latin typeface="MS Gothic" panose="020B0609070205080204" pitchFamily="49" charset="-128"/>
                <a:ea typeface="MS Gothic" panose="020B0609070205080204" pitchFamily="49" charset="-128"/>
              </a:rPr>
              <a:t>＜分散が大きい例＞</a:t>
            </a:r>
            <a:endParaRPr kumimoji="1" lang="ja-JP" altLang="en-US"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4F41994-D404-5F6C-FF1B-F2639D88E537}"/>
              </a:ext>
            </a:extLst>
          </p:cNvPr>
          <p:cNvSpPr/>
          <p:nvPr/>
        </p:nvSpPr>
        <p:spPr>
          <a:xfrm>
            <a:off x="4580749" y="1657805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6265DB3-AD7A-F794-B71B-4A6BE18C690B}"/>
              </a:ext>
            </a:extLst>
          </p:cNvPr>
          <p:cNvSpPr/>
          <p:nvPr/>
        </p:nvSpPr>
        <p:spPr>
          <a:xfrm>
            <a:off x="7728238" y="1632260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0A31C3B3-E985-1329-9A76-340C6C72655E}"/>
              </a:ext>
            </a:extLst>
          </p:cNvPr>
          <p:cNvSpPr/>
          <p:nvPr/>
        </p:nvSpPr>
        <p:spPr>
          <a:xfrm>
            <a:off x="5614368" y="1657805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405C944-FA84-33EB-F7C9-E841E45F5965}"/>
              </a:ext>
            </a:extLst>
          </p:cNvPr>
          <p:cNvSpPr/>
          <p:nvPr/>
        </p:nvSpPr>
        <p:spPr>
          <a:xfrm>
            <a:off x="3207936" y="5052950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CBDDF58E-6D36-97AC-2E95-41952D9C584F}"/>
              </a:ext>
            </a:extLst>
          </p:cNvPr>
          <p:cNvSpPr/>
          <p:nvPr/>
        </p:nvSpPr>
        <p:spPr>
          <a:xfrm>
            <a:off x="10796358" y="5052950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15094252-B203-053F-3D8B-122C24FD0A04}"/>
              </a:ext>
            </a:extLst>
          </p:cNvPr>
          <p:cNvSpPr/>
          <p:nvPr/>
        </p:nvSpPr>
        <p:spPr>
          <a:xfrm>
            <a:off x="4790987" y="5052950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F973593-C861-7B66-033E-3103D4FAE105}"/>
              </a:ext>
            </a:extLst>
          </p:cNvPr>
          <p:cNvSpPr/>
          <p:nvPr/>
        </p:nvSpPr>
        <p:spPr>
          <a:xfrm>
            <a:off x="7642389" y="5052950"/>
            <a:ext cx="83127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4AD48AED-12DF-9B4F-7AB6-FCD6CB5F8711}"/>
                  </a:ext>
                </a:extLst>
              </p:cNvPr>
              <p:cNvSpPr txBox="1"/>
              <p:nvPr/>
            </p:nvSpPr>
            <p:spPr>
              <a:xfrm>
                <a:off x="5623254" y="5459703"/>
                <a:ext cx="12384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ja-JP" altLang="en-US">
                    <a:latin typeface="MS Gothic" panose="020B0609070205080204" pitchFamily="49" charset="-128"/>
                    <a:ea typeface="MS Gothic" panose="020B0609070205080204" pitchFamily="49" charset="-128"/>
                  </a:rPr>
                  <a:t>平均値</a:t>
                </a:r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MS Gothic" panose="020B0609070205080204" pitchFamily="49" charset="-128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dirty="0">
                    <a:latin typeface="MS Gothic" panose="020B0609070205080204" pitchFamily="49" charset="-128"/>
                    <a:ea typeface="MS Gothic" panose="020B0609070205080204" pitchFamily="49" charset="-128"/>
                  </a:rPr>
                  <a:t>)</a:t>
                </a:r>
                <a:endParaRPr kumimoji="1" lang="ja-JP" altLang="en-US">
                  <a:latin typeface="MS Gothic" panose="020B0609070205080204" pitchFamily="49" charset="-128"/>
                  <a:ea typeface="MS Gothic" panose="020B0609070205080204" pitchFamily="49" charset="-128"/>
                </a:endParaRPr>
              </a:p>
            </p:txBody>
          </p:sp>
        </mc:Choice>
        <mc:Fallback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4AD48AED-12DF-9B4F-7AB6-FCD6CB5F8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254" y="5459703"/>
                <a:ext cx="1238416" cy="369332"/>
              </a:xfrm>
              <a:prstGeom prst="rect">
                <a:avLst/>
              </a:prstGeom>
              <a:blipFill>
                <a:blip r:embed="rId3"/>
                <a:stretch>
                  <a:fillRect l="-3030" t="-13793" r="-3030" b="-241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388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2535</TotalTime>
  <Words>90</Words>
  <Application>Microsoft Macintosh PowerPoint</Application>
  <PresentationFormat>ワイド画面</PresentationFormat>
  <Paragraphs>21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MS Gothic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那須蘭太郎</dc:creator>
  <cp:lastModifiedBy>那須蘭太郎</cp:lastModifiedBy>
  <cp:revision>81</cp:revision>
  <dcterms:created xsi:type="dcterms:W3CDTF">2026-08-06T08:16:18Z</dcterms:created>
  <dcterms:modified xsi:type="dcterms:W3CDTF">2026-09-24T01:03:02Z</dcterms:modified>
</cp:coreProperties>
</file>